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F1FF"/>
                </a:solidFill>
                <a:latin typeface="Arial"/>
              </a:defRPr>
            </a:pPr>
            <a:r>
              <a:t>SmartHire — Resume-to-Job Matching &amp; Career Guidance Engine</a:t>
            </a:r>
          </a:p>
          <a:p>
            <a:pPr algn="ctr">
              <a:spcBef>
                <a:spcPts val="1200"/>
              </a:spcBef>
              <a:defRPr sz="1800">
                <a:solidFill>
                  <a:srgbClr val="8892B0"/>
                </a:solidFill>
                <a:latin typeface="Arial"/>
              </a:defRPr>
            </a:pPr>
            <a:r>
              <a:t>End-to-End Classical ML Pipeline | Capstone Internship Project</a:t>
            </a:r>
          </a:p>
          <a:p>
            <a:pPr algn="ctr">
              <a:spcBef>
                <a:spcPts val="3600"/>
              </a:spcBef>
              <a:defRPr sz="1400">
                <a:solidFill>
                  <a:srgbClr val="64FFDA"/>
                </a:solidFill>
                <a:latin typeface="Consolas"/>
              </a:defRPr>
            </a:pPr>
            <a:r>
              <a:t>Prepared by: Adib Azam  |  AI/ML Intern</a:t>
            </a:r>
          </a:p>
        </p:txBody>
      </p:sp>
      <p:sp>
        <p:nvSpPr>
          <p:cNvPr id="3" name="Oval 2"/>
          <p:cNvSpPr/>
          <p:nvPr/>
        </p:nvSpPr>
        <p:spPr>
          <a:xfrm>
            <a:off x="4114800" y="47548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47548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0" y="4754880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2704" y="4480560"/>
            <a:ext cx="914400" cy="731520"/>
          </a:xfrm>
          <a:prstGeom prst="roundRect">
            <a:avLst/>
          </a:prstGeom>
          <a:solidFill>
            <a:srgbClr val="112240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FFDA"/>
                </a:solidFill>
                <a:latin typeface="Consolas"/>
              </a:defRPr>
            </a:pPr>
            <a:r>
              <a:t>TF-IDF</a:t>
            </a:r>
          </a:p>
        </p:txBody>
      </p:sp>
      <p:sp>
        <p:nvSpPr>
          <p:cNvPr id="7" name="Oval 6"/>
          <p:cNvSpPr/>
          <p:nvPr/>
        </p:nvSpPr>
        <p:spPr>
          <a:xfrm>
            <a:off x="6976872" y="4754880"/>
            <a:ext cx="182880" cy="1828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34072" y="4754880"/>
            <a:ext cx="182880" cy="1828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91272" y="4754880"/>
            <a:ext cx="182880" cy="1828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FFDA"/>
                </a:solidFill>
                <a:latin typeface="Consolas"/>
              </a:defRPr>
            </a:pPr>
            <a:r>
              <a:t>[ Python 3.9 ]   [ scikit-learn ]   [ XGBoost ]   [ TF-IDF ]   [ K-Means ]   [ Streamlit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01 /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The Challenge in Early-Career Job Hunting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The Shortlist Funnel:</a:t>
            </a:r>
            <a:r>
              <a:rPr sz="1400" b="0">
                <a:solidFill>
                  <a:srgbClr val="8892B0"/>
                </a:solidFill>
                <a:latin typeface="Arial"/>
              </a:rPr>
              <a:t> Over </a:t>
            </a:r>
            <a:r>
              <a:rPr sz="1400" b="1">
                <a:solidFill>
                  <a:srgbClr val="E6F1FF"/>
                </a:solidFill>
                <a:latin typeface="Arial"/>
              </a:rPr>
              <a:t>87%</a:t>
            </a:r>
            <a:r>
              <a:rPr sz="1400" b="0">
                <a:solidFill>
                  <a:srgbClr val="8892B0"/>
                </a:solidFill>
                <a:latin typeface="Arial"/>
              </a:rPr>
              <a:t> of candidate resumes are filtered out by automated screening filters before reaching a recruiter.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The Black Box Problem:</a:t>
            </a:r>
            <a:r>
              <a:rPr sz="1400" b="0">
                <a:solidFill>
                  <a:srgbClr val="8892B0"/>
                </a:solidFill>
                <a:latin typeface="Arial"/>
              </a:rPr>
              <a:t> Rejected students receive generic emails, with zero transparent feedback on specific skill gaps.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The Cold Start Gap:</a:t>
            </a:r>
            <a:r>
              <a:rPr sz="1400" b="0">
                <a:solidFill>
                  <a:srgbClr val="8892B0"/>
                </a:solidFill>
                <a:latin typeface="Arial"/>
              </a:rPr>
              <a:t> Traditional job recommendation portals require substantial historical interaction logs to deliver accurate matches.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Expensive GenAI Overhead:</a:t>
            </a:r>
            <a:r>
              <a:rPr sz="1400" b="0">
                <a:solidFill>
                  <a:srgbClr val="8892B0"/>
                </a:solidFill>
                <a:latin typeface="Arial"/>
              </a:rPr>
              <a:t> Modern systems rely heavily on external large language model (LLM) APIs, incurring high latency, API cost, and privacy risks.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11480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  <a:latin typeface="Arial"/>
              </a:defRPr>
            </a:pPr>
            <a:r>
              <a:t>Traditional Portals (Blind Funnel)</a:t>
            </a:r>
          </a:p>
          <a:p>
            <a:pPr>
              <a:spcBef>
                <a:spcPts val="800"/>
              </a:spcBef>
              <a:defRPr sz="1200">
                <a:solidFill>
                  <a:srgbClr val="8892B0"/>
                </a:solidFill>
                <a:latin typeface="Arial"/>
              </a:defRPr>
            </a:pPr>
            <a:r>
              <a:t>• Send dozens of resumes blindly</a:t>
            </a:r>
            <a:br/>
            <a:r>
              <a:t>• No response or generic rejection</a:t>
            </a:r>
            <a:br/>
            <a:r>
              <a:t>• No guidance on missing qualifications</a:t>
            </a:r>
            <a:br/>
            <a:r>
              <a:t>• Static keyword-matching errors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4023360"/>
            <a:ext cx="4114800" cy="2011680"/>
          </a:xfrm>
          <a:prstGeom prst="rect">
            <a:avLst/>
          </a:prstGeom>
          <a:solidFill>
            <a:srgbClr val="112240"/>
          </a:solidFill>
          <a:ln w="12700"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420624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4FFDA"/>
                </a:solidFill>
                <a:latin typeface="Arial"/>
              </a:defRPr>
            </a:pPr>
            <a:r>
              <a:t>SmartHire Closed-Loop Guidance</a:t>
            </a:r>
          </a:p>
          <a:p>
            <a:pPr>
              <a:spcBef>
                <a:spcPts val="800"/>
              </a:spcBef>
              <a:defRPr sz="1200">
                <a:solidFill>
                  <a:srgbClr val="E6F1FF"/>
                </a:solidFill>
                <a:latin typeface="Arial"/>
              </a:defRPr>
            </a:pPr>
            <a:r>
              <a:t>• Instant domain classification mapping</a:t>
            </a:r>
            <a:br/>
            <a:r>
              <a:t>• Unsupervised matching &amp; recommendations</a:t>
            </a:r>
            <a:br/>
            <a:r>
              <a:t>• Detailed skills gap analysis feedback</a:t>
            </a:r>
            <a:br/>
            <a:r>
              <a:t>• High performance using local classical 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02 / SYSTEM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Modular End-to-End System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1. Parser &amp; Preprocessor:</a:t>
            </a:r>
            <a:r>
              <a:rPr sz="1400" b="0">
                <a:solidFill>
                  <a:srgbClr val="8892B0"/>
                </a:solidFill>
                <a:latin typeface="Arial"/>
              </a:rPr>
              <a:t> Extracts text from PDF/DOCX resumes and sanitizes (tokenization, stopword removal).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2. Domain Classifier:</a:t>
            </a:r>
            <a:r>
              <a:rPr sz="1400" b="0">
                <a:solidFill>
                  <a:srgbClr val="8892B0"/>
                </a:solidFill>
                <a:latin typeface="Arial"/>
              </a:rPr>
              <a:t> Multi-class Logistic Regression models the primary job domain (25 categories).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3. Similarity Recommender:</a:t>
            </a:r>
            <a:r>
              <a:rPr sz="1400" b="0">
                <a:solidFill>
                  <a:srgbClr val="8892B0"/>
                </a:solidFill>
                <a:latin typeface="Arial"/>
              </a:rPr>
              <a:t> Employs content-based filtering (TF-IDF + Cosine similarity) to rank the top 10 positions.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4. Latent Cluster Analyzer:</a:t>
            </a:r>
            <a:r>
              <a:rPr sz="1400" b="0">
                <a:solidFill>
                  <a:srgbClr val="8892B0"/>
                </a:solidFill>
                <a:latin typeface="Arial"/>
              </a:rPr>
              <a:t> Runs K-Means clustering to discover career families and map skill gap centroids.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114800" cy="5486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F1FF"/>
                </a:solidFill>
                <a:latin typeface="Consolas"/>
              </a:defRPr>
            </a:pPr>
            <a:r>
              <a:t>1. Ingestion / PDF Parser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560320"/>
            <a:ext cx="4114800" cy="5486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F1FF"/>
                </a:solidFill>
                <a:latin typeface="Consolas"/>
              </a:defRPr>
            </a:pPr>
            <a:r>
              <a:t>2. Clean Text (Tokens)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3474720"/>
            <a:ext cx="4114800" cy="548640"/>
          </a:xfrm>
          <a:prstGeom prst="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F1FF"/>
                </a:solidFill>
                <a:latin typeface="Consolas"/>
              </a:defRPr>
            </a:pPr>
            <a:r>
              <a:t>3. TF-IDF Representation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389120"/>
            <a:ext cx="4114800" cy="1645920"/>
          </a:xfrm>
          <a:prstGeom prst="rect">
            <a:avLst/>
          </a:prstGeom>
          <a:solidFill>
            <a:srgbClr val="112240"/>
          </a:solidFill>
          <a:ln>
            <a:solidFill>
              <a:srgbClr val="64F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4FFDA"/>
                </a:solidFill>
                <a:latin typeface="Arial"/>
              </a:defRPr>
            </a:pPr>
            <a:r>
              <a:t>Downstream Engine Splits</a:t>
            </a:r>
          </a:p>
          <a:p>
            <a:pPr algn="ctr">
              <a:spcBef>
                <a:spcPts val="800"/>
              </a:spcBef>
              <a:defRPr sz="1000">
                <a:solidFill>
                  <a:srgbClr val="8892B0"/>
                </a:solidFill>
                <a:latin typeface="Consolas"/>
              </a:defRPr>
            </a:pPr>
            <a:r>
              <a:t>[Supervised] Logistic Regression Classifier</a:t>
            </a:r>
            <a:br/>
            <a:r>
              <a:t>[Unsupervised] Cosine Similarity Ranker</a:t>
            </a:r>
            <a:br/>
            <a:r>
              <a:t>[Unsupervised] K-Means Clustering</a:t>
            </a:r>
            <a:br/>
            <a:r>
              <a:t>[Supervised] XGBoost Shortlist Predictor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03 / 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Data Ingestion, Merging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Comprehensive Datasets:</a:t>
            </a:r>
            <a:r>
              <a:rPr sz="1400" b="0">
                <a:solidFill>
                  <a:srgbClr val="8892B0"/>
                </a:solidFill>
                <a:latin typeface="Arial"/>
              </a:rPr>
              <a:t> Integrated Kaggle Resumes (962 records, 25 classes), Naukri Jobs, and LinkedIn Listings (15k records) into a consolidated corpus.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Standardized Schemas:</a:t>
            </a:r>
            <a:r>
              <a:rPr sz="1400" b="0">
                <a:solidFill>
                  <a:srgbClr val="8892B0"/>
                </a:solidFill>
                <a:latin typeface="Arial"/>
              </a:rPr>
              <a:t> Consolidated attributes to support uniform matching: &lt;code&gt;[title, company, description, skills, min_experience, max_experience]&lt;/code&gt;.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Deterministic Cleaning:</a:t>
            </a:r>
            <a:r>
              <a:rPr sz="1400" b="0">
                <a:solidFill>
                  <a:srgbClr val="8892B0"/>
                </a:solidFill>
                <a:latin typeface="Arial"/>
              </a:rPr>
              <a:t> Stripped email patterns, URLs, non-alphabetic chars, NLTK stopwords, and converted text to lowercase.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Stemming vs Lemmatization:</a:t>
            </a:r>
            <a:r>
              <a:rPr sz="1400" b="0">
                <a:solidFill>
                  <a:srgbClr val="8892B0"/>
                </a:solidFill>
                <a:latin typeface="Arial"/>
              </a:rPr>
              <a:t> Lemmatization was selected over Stemming to avoid breaking critical technical terms (e.g. 'c++' and 'go').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020C1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6F1FF"/>
                </a:solidFill>
                <a:latin typeface="Consolas"/>
              </a:defRPr>
            </a:pPr>
            <a:r>
              <a:t># src/data/preprocess.py</a:t>
            </a:r>
            <a:br/>
            <a:r>
              <a:t>def clean_text(text):</a:t>
            </a:r>
            <a:br/>
            <a:r>
              <a:t>    # Convert to lowercase</a:t>
            </a:r>
            <a:br/>
            <a:r>
              <a:t>    text = text.lower()</a:t>
            </a:r>
            <a:br/>
            <a:r>
              <a:t>    # Remove URLs &amp; emails</a:t>
            </a:r>
            <a:br/>
            <a:r>
              <a:t>    text = re.sub(r'http\S+|@\S+', '', text)</a:t>
            </a:r>
            <a:br/>
            <a:r>
              <a:t>    # Tokenize &amp; strip stopwords</a:t>
            </a:r>
            <a:br/>
            <a:r>
              <a:t>    tokens = word_tokenize(text)</a:t>
            </a:r>
            <a:br/>
            <a:r>
              <a:t>    tokens = [lemmatizer.lemmatize(t)</a:t>
            </a:r>
            <a:br/>
            <a:r>
              <a:t>              for t in tokens</a:t>
            </a:r>
            <a:br/>
            <a:r>
              <a:t>              if t not in stopwords]</a:t>
            </a:r>
            <a:br/>
            <a:r>
              <a:t>    return ' '.join(tokens)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04 / RESUME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Resume Domain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99.5% Stratified 5-Fold CV Accuracy (99.53% ± 0.06%):</a:t>
            </a:r>
            <a:r>
              <a:rPr sz="1400" b="0">
                <a:solidFill>
                  <a:srgbClr val="8892B0"/>
                </a:solidFill>
                <a:latin typeface="Arial"/>
              </a:rPr>
              <a:t> Achieved robust accuracy across the 25 distinct job classes.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Vocabulary Driver:</a:t>
            </a:r>
            <a:r>
              <a:rPr sz="1400" b="0">
                <a:solidFill>
                  <a:srgbClr val="8892B0"/>
                </a:solidFill>
                <a:latin typeface="Arial"/>
              </a:rPr>
              <a:t> Near-perfect performance is driven by the highly structured, distinct terminologies separating each domain (e.g. 'blockchain' vs 'nursing').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Rigor Validation:</a:t>
            </a:r>
            <a:r>
              <a:rPr sz="1400" b="0">
                <a:solidFill>
                  <a:srgbClr val="8892B0"/>
                </a:solidFill>
                <a:latin typeface="Arial"/>
              </a:rPr>
              <a:t> Explicitly audited feature vectors to confirm no resume index IDs or meta variables leaked into training.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Boundary Limitation:</a:t>
            </a:r>
            <a:r>
              <a:rPr sz="1400" b="0">
                <a:solidFill>
                  <a:srgbClr val="8892B0"/>
                </a:solidFill>
                <a:latin typeface="Arial"/>
              </a:rPr>
              <a:t> Validated on clean, pre-structured resume profiles; noisy multi-page candidate PDFs represent the next validation stage.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F1FF"/>
                </a:solidFill>
                <a:latin typeface="Arial"/>
              </a:defRPr>
            </a:pPr>
            <a:r>
              <a:t>Classifier Diagnostics &amp; CV Scores</a:t>
            </a:r>
          </a:p>
          <a:p>
            <a:br/>
            <a:pPr>
              <a:spcBef>
                <a:spcPts val="800"/>
              </a:spcBef>
              <a:defRPr sz="1100">
                <a:solidFill>
                  <a:srgbClr val="8892B0"/>
                </a:solidFill>
                <a:latin typeface="Consolas"/>
              </a:defRPr>
            </a:pPr>
            <a:r>
              <a:t>• Model: Calibrated LinearSVC (via TF-IDF)</a:t>
            </a:r>
            <a:br/>
            <a:r>
              <a:t>• Stratified 5-Fold Cross Validation:</a:t>
            </a:r>
            <a:br/>
            <a:r>
              <a:t>   - Fold 1: 99.48% | Fold 2: 99.61%</a:t>
            </a:r>
            <a:br/>
            <a:r>
              <a:t>   - Fold 3: 99.61% | Fold 4: 99.48%</a:t>
            </a:r>
            <a:br/>
            <a:r>
              <a:t>   - Fold 5: 99.48%</a:t>
            </a:r>
            <a:br/>
            <a:r>
              <a:t>   - Mean Accuracy: 99.53% ± 0.06%</a:t>
            </a:r>
            <a:br/>
            <a:br/>
            <a:r>
              <a:t>Diagnostic Conclusion:</a:t>
            </a:r>
            <a:br/>
            <a:r>
              <a:t>Performance is validated on clean, domain-specific text. The pipeline is designed to be fully retrained as broader, noisier document classes are ingested.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05 / SIMILARITY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Unsupervised Similarity Recommendation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Mathematical Alignment:</a:t>
            </a:r>
            <a:r>
              <a:rPr sz="1400" b="0">
                <a:solidFill>
                  <a:srgbClr val="8892B0"/>
                </a:solidFill>
                <a:latin typeface="Arial"/>
              </a:rPr>
              <a:t> Projects the candidate resume into the job description TF-IDF space and calculates </a:t>
            </a:r>
            <a:r>
              <a:rPr sz="1400" b="1">
                <a:solidFill>
                  <a:srgbClr val="E6F1FF"/>
                </a:solidFill>
                <a:latin typeface="Arial"/>
              </a:rPr>
              <a:t>Cosine Similarity</a:t>
            </a:r>
            <a:r>
              <a:rPr sz="1400" b="0">
                <a:solidFill>
                  <a:srgbClr val="8892B0"/>
                </a:solidFill>
                <a:latin typeface="Arial"/>
              </a:rPr>
              <a:t>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Category Mask Filtering:</a:t>
            </a:r>
            <a:r>
              <a:rPr sz="1400" b="0">
                <a:solidFill>
                  <a:srgbClr val="8892B0"/>
                </a:solidFill>
                <a:latin typeface="Arial"/>
              </a:rPr>
              <a:t> Prevents irrelevant crossovers by prioritizing jobs within the predicted resume domain.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Hybrid Match Scoring:</a:t>
            </a:r>
            <a:r>
              <a:rPr sz="1400" b="0">
                <a:solidFill>
                  <a:srgbClr val="8892B0"/>
                </a:solidFill>
                <a:latin typeface="Arial"/>
              </a:rPr>
              <a:t> Implements a weighted scoring mechanism: 60% Skill overlap (Jaccard + Recall), 20% Cosine Similarity, and 20% Experience fit.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No User History Needed:</a:t>
            </a:r>
            <a:r>
              <a:rPr sz="1400" b="0">
                <a:solidFill>
                  <a:srgbClr val="8892B0"/>
                </a:solidFill>
                <a:latin typeface="Arial"/>
              </a:rPr>
              <a:t> Solves the cold-start problem completely for new graduates entering the job portal.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F1FF"/>
                </a:solidFill>
                <a:latin typeface="Arial"/>
              </a:defRPr>
            </a:pPr>
            <a:r>
              <a:t>Sample Match Recommendations (CV: Data Scientist)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240279"/>
            <a:ext cx="4023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>
                <a:solidFill>
                  <a:srgbClr val="E6F1FF"/>
                </a:solidFill>
                <a:latin typeface="Arial"/>
              </a:defRPr>
            </a:pPr>
            <a:r>
              <a:t>1. DS at Microsoft (85% Match)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560320"/>
            <a:ext cx="3657600" cy="182880"/>
          </a:xfrm>
          <a:prstGeom prst="rect">
            <a:avLst/>
          </a:prstGeom>
          <a:solidFill>
            <a:srgbClr val="0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2560320"/>
            <a:ext cx="3200400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3154679"/>
            <a:ext cx="4023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>
                <a:solidFill>
                  <a:srgbClr val="E6F1FF"/>
                </a:solidFill>
                <a:latin typeface="Arial"/>
              </a:defRPr>
            </a:pPr>
            <a:r>
              <a:t>2. Machine Learning Eng (62% Match)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474720"/>
            <a:ext cx="3657600" cy="182880"/>
          </a:xfrm>
          <a:prstGeom prst="rect">
            <a:avLst/>
          </a:prstGeom>
          <a:solidFill>
            <a:srgbClr val="0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3474720"/>
            <a:ext cx="2286000" cy="182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4069080"/>
            <a:ext cx="402336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1000">
                <a:solidFill>
                  <a:srgbClr val="E6F1FF"/>
                </a:solidFill>
                <a:latin typeface="Arial"/>
              </a:defRPr>
            </a:pPr>
            <a:r>
              <a:t>3. Web Developer (34% Match)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4389120"/>
            <a:ext cx="3657600" cy="182880"/>
          </a:xfrm>
          <a:prstGeom prst="rect">
            <a:avLst/>
          </a:prstGeom>
          <a:solidFill>
            <a:srgbClr val="0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4389120"/>
            <a:ext cx="1097280" cy="182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06 / LATENT JOB CLUSTERS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Job Clustering &amp; Silhouette Score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Discovering Job Families:</a:t>
            </a:r>
            <a:r>
              <a:rPr sz="1400" b="0">
                <a:solidFill>
                  <a:srgbClr val="8892B0"/>
                </a:solidFill>
                <a:latin typeface="Arial"/>
              </a:rPr>
              <a:t> Applied K-Means clustering on the TF-IDF representation of 10,000 job descriptions ($K=6$ clusters selected).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Silhouette Score of 0.12:</a:t>
            </a:r>
            <a:r>
              <a:rPr sz="1400" b="0">
                <a:solidFill>
                  <a:srgbClr val="8892B0"/>
                </a:solidFill>
                <a:latin typeface="Arial"/>
              </a:rPr>
              <a:t> Indicates significant structural overlap across cluster boundaries.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Jargon Boilerplates:</a:t>
            </a:r>
            <a:r>
              <a:rPr sz="1400" b="0">
                <a:solidFill>
                  <a:srgbClr val="8892B0"/>
                </a:solidFill>
                <a:latin typeface="Arial"/>
              </a:rPr>
              <a:t> Low silhouette score is driven by shared corporate text template conventions (e.g. 'work-ethic', 'experience', 'benefits') across listings.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Functional Boundaries:</a:t>
            </a:r>
            <a:r>
              <a:rPr sz="1400" b="0">
                <a:solidFill>
                  <a:srgbClr val="8892B0"/>
                </a:solidFill>
                <a:latin typeface="Arial"/>
              </a:rPr>
              <a:t> Centroid vocabularies successfully separate broad functional job families (e.g. software engineering vs. marketing) for comparative skills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F1FF"/>
                </a:solidFill>
                <a:latin typeface="Arial"/>
              </a:defRPr>
            </a:pPr>
            <a:r>
              <a:t>Overlapping Cluster Projections (Silhouette = 0.12)</a:t>
            </a:r>
          </a:p>
        </p:txBody>
      </p:sp>
      <p:sp>
        <p:nvSpPr>
          <p:cNvPr id="8" name="Oval 7"/>
          <p:cNvSpPr/>
          <p:nvPr/>
        </p:nvSpPr>
        <p:spPr>
          <a:xfrm>
            <a:off x="7589520" y="2651760"/>
            <a:ext cx="1645920" cy="164592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39328" y="3401568"/>
            <a:ext cx="146304" cy="146304"/>
          </a:xfrm>
          <a:prstGeom prst="ellipse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0" y="2743200"/>
            <a:ext cx="1645920" cy="1645920"/>
          </a:xfrm>
          <a:prstGeom prst="ellipse">
            <a:avLst/>
          </a:prstGeom>
          <a:solidFill>
            <a:srgbClr val="0891B2"/>
          </a:solidFill>
          <a:ln w="1905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53728" y="3493008"/>
            <a:ext cx="146304" cy="146304"/>
          </a:xfrm>
          <a:prstGeom prst="ellipse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0" y="3200400"/>
            <a:ext cx="1645920" cy="164592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96528" y="3950208"/>
            <a:ext cx="146304" cy="146304"/>
          </a:xfrm>
          <a:prstGeom prst="ellipse">
            <a:avLst/>
          </a:prstGeom>
          <a:solidFill>
            <a:srgbClr val="E6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512064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92B0"/>
                </a:solidFill>
              </a:defRPr>
            </a:pPr>
            <a:r>
              <a:t>Visualization represents substantial cluster overlaps due to shared job listing vocabulary.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07 / SHORTLIST PREDICTOR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Fit Predictor Model &amp; Feature Importance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Validation Performance:</a:t>
            </a:r>
            <a:r>
              <a:rPr sz="1400" b="0">
                <a:solidFill>
                  <a:srgbClr val="8892B0"/>
                </a:solidFill>
                <a:latin typeface="Arial"/>
              </a:rPr>
              <a:t> XGBoost Classifier achieves </a:t>
            </a:r>
            <a:r>
              <a:rPr sz="1400" b="1">
                <a:solidFill>
                  <a:srgbClr val="E6F1FF"/>
                </a:solidFill>
                <a:latin typeface="Arial"/>
              </a:rPr>
              <a:t>85.2% F1</a:t>
            </a:r>
            <a:r>
              <a:rPr sz="1400" b="0">
                <a:solidFill>
                  <a:srgbClr val="8892B0"/>
                </a:solidFill>
                <a:latin typeface="Arial"/>
              </a:rPr>
              <a:t> and </a:t>
            </a:r>
            <a:r>
              <a:rPr sz="1400" b="1">
                <a:solidFill>
                  <a:srgbClr val="E6F1FF"/>
                </a:solidFill>
                <a:latin typeface="Arial"/>
              </a:rPr>
              <a:t>93.9% AUC</a:t>
            </a:r>
            <a:r>
              <a:rPr sz="1400" b="0">
                <a:solidFill>
                  <a:srgbClr val="8892B0"/>
                </a:solidFill>
                <a:latin typeface="Arial"/>
              </a:rPr>
              <a:t> on evaluation split.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Baseline Comparison:</a:t>
            </a:r>
            <a:r>
              <a:rPr sz="1400" b="0">
                <a:solidFill>
                  <a:srgbClr val="8892B0"/>
                </a:solidFill>
                <a:latin typeface="Arial"/>
              </a:rPr>
              <a:t> Outperforms the Logistic Regression baseline model (F1: </a:t>
            </a:r>
            <a:r>
              <a:rPr sz="1400" b="1">
                <a:solidFill>
                  <a:srgbClr val="E6F1FF"/>
                </a:solidFill>
                <a:latin typeface="Arial"/>
              </a:rPr>
              <a:t>83.0%</a:t>
            </a:r>
            <a:r>
              <a:rPr sz="1400" b="0">
                <a:solidFill>
                  <a:srgbClr val="8892B0"/>
                </a:solidFill>
                <a:latin typeface="Arial"/>
              </a:rPr>
              <a:t>, AUC: </a:t>
            </a:r>
            <a:r>
              <a:rPr sz="1400" b="1">
                <a:solidFill>
                  <a:srgbClr val="E6F1FF"/>
                </a:solidFill>
                <a:latin typeface="Arial"/>
              </a:rPr>
              <a:t>92.9%</a:t>
            </a:r>
            <a:r>
              <a:rPr sz="1400" b="0">
                <a:solidFill>
                  <a:srgbClr val="8892B0"/>
                </a:solidFill>
                <a:latin typeface="Arial"/>
              </a:rPr>
              <a:t>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Evaluation Boundary:</a:t>
            </a:r>
            <a:r>
              <a:rPr sz="1400" b="0">
                <a:solidFill>
                  <a:srgbClr val="8892B0"/>
                </a:solidFill>
                <a:latin typeface="Arial"/>
              </a:rPr>
              <a:t> Model is trained on </a:t>
            </a:r>
            <a:r>
              <a:rPr sz="1400" b="1">
                <a:solidFill>
                  <a:srgbClr val="E6F1FF"/>
                </a:solidFill>
                <a:latin typeface="Arial"/>
              </a:rPr>
              <a:t>5,000 synthetic pairs</a:t>
            </a:r>
            <a:r>
              <a:rPr sz="1400" b="0">
                <a:solidFill>
                  <a:srgbClr val="8892B0"/>
                </a:solidFill>
                <a:latin typeface="Arial"/>
              </a:rPr>
              <a:t> using weighted heuristic rules.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Pipeline Value:</a:t>
            </a:r>
            <a:r>
              <a:rPr sz="1400" b="0">
                <a:solidFill>
                  <a:srgbClr val="8892B0"/>
                </a:solidFill>
                <a:latin typeface="Arial"/>
              </a:rPr>
              <a:t> Delivers a ready-to-scale feature engineering architecture. The model is structured to swap in real recruiter decision logs once available.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F1FF"/>
                </a:solidFill>
                <a:latin typeface="Arial"/>
              </a:defRPr>
            </a:pPr>
            <a:r>
              <a:t>XGBoost Model Feature Importances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94560"/>
            <a:ext cx="402336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8892B0"/>
                </a:solidFill>
                <a:latin typeface="Consolas"/>
              </a:defRPr>
            </a:pPr>
            <a:r>
              <a:t>category_match (63.0%)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2468880"/>
            <a:ext cx="3657600" cy="137160"/>
          </a:xfrm>
          <a:prstGeom prst="rect">
            <a:avLst/>
          </a:prstGeom>
          <a:solidFill>
            <a:srgbClr val="0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2468880"/>
            <a:ext cx="2304288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834640"/>
            <a:ext cx="402336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8892B0"/>
                </a:solidFill>
                <a:latin typeface="Consolas"/>
              </a:defRPr>
            </a:pPr>
            <a:r>
              <a:t>skill_overlap_ratio (31.6%)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108960"/>
            <a:ext cx="3657600" cy="137160"/>
          </a:xfrm>
          <a:prstGeom prst="rect">
            <a:avLst/>
          </a:prstGeom>
          <a:solidFill>
            <a:srgbClr val="0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0880" y="3108960"/>
            <a:ext cx="1155801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3474720"/>
            <a:ext cx="402336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8892B0"/>
                </a:solidFill>
                <a:latin typeface="Consolas"/>
              </a:defRPr>
            </a:pPr>
            <a:r>
              <a:t>description_similarity (4.3%)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3749039"/>
            <a:ext cx="3657600" cy="137160"/>
          </a:xfrm>
          <a:prstGeom prst="rect">
            <a:avLst/>
          </a:prstGeom>
          <a:solidFill>
            <a:srgbClr val="0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0880" y="3749039"/>
            <a:ext cx="157276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114800"/>
            <a:ext cx="402336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8892B0"/>
                </a:solidFill>
                <a:latin typeface="Consolas"/>
              </a:defRPr>
            </a:pPr>
            <a:r>
              <a:t>experience_match (0.6%)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4389120"/>
            <a:ext cx="3657600" cy="137160"/>
          </a:xfrm>
          <a:prstGeom prst="rect">
            <a:avLst/>
          </a:prstGeom>
          <a:solidFill>
            <a:srgbClr val="0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4389120"/>
            <a:ext cx="45720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754880"/>
            <a:ext cx="402336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900">
                <a:solidFill>
                  <a:srgbClr val="8892B0"/>
                </a:solidFill>
                <a:latin typeface="Consolas"/>
              </a:defRPr>
            </a:pPr>
            <a:r>
              <a:t>skill_coverage_ratio (0.5%)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5029200"/>
            <a:ext cx="3657600" cy="137160"/>
          </a:xfrm>
          <a:prstGeom prst="rect">
            <a:avLst/>
          </a:prstGeom>
          <a:solidFill>
            <a:srgbClr val="020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5029200"/>
            <a:ext cx="45720" cy="13716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08 / INTERACTIVE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Streamlit Match Dashboard &amp; Live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Resume Ingestion:</a:t>
            </a:r>
            <a:r>
              <a:rPr sz="1400" b="0">
                <a:solidFill>
                  <a:srgbClr val="8892B0"/>
                </a:solidFill>
                <a:latin typeface="Arial"/>
              </a:rPr>
              <a:t> Drag-and-drop PDF parser extracts raw resume string, showing real-time feedback.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Calibrated Probabilities:</a:t>
            </a:r>
            <a:r>
              <a:rPr sz="1400" b="0">
                <a:solidFill>
                  <a:srgbClr val="8892B0"/>
                </a:solidFill>
                <a:latin typeface="Arial"/>
              </a:rPr>
              <a:t> Predicts resume domains and shows calibrated probability metrics (via Platt scaling) to prevent confidence spikes.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Custom Progress Indicators:</a:t>
            </a:r>
            <a:r>
              <a:rPr sz="1400" b="0">
                <a:solidFill>
                  <a:srgbClr val="8892B0"/>
                </a:solidFill>
                <a:latin typeface="Arial"/>
              </a:rPr>
              <a:t> Dynamic HTML progress bars are colored based on match strength (Green &gt;= 70%, Yellow 40-69%, Red &lt; 40%).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Instant PDF Report:</a:t>
            </a:r>
            <a:r>
              <a:rPr sz="1400" b="0">
                <a:solidFill>
                  <a:srgbClr val="8892B0"/>
                </a:solidFill>
                <a:latin typeface="Arial"/>
              </a:rPr>
              <a:t> Compiles a full summary, skill roadmap, and matches for off-line candidate reference.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463040"/>
            <a:ext cx="4937760" cy="4389120"/>
          </a:xfrm>
          <a:prstGeom prst="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resh_ui_results_v2_17819487507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1252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64FFDA"/>
                </a:solidFill>
                <a:latin typeface="Consolas"/>
              </a:defRPr>
            </a:pPr>
            <a:r>
              <a:t>Live App: https://smarthire.streamlit.app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09 / 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Reproducible Project Repository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Clean Modular Design:</a:t>
            </a:r>
            <a:r>
              <a:rPr sz="1400" b="0">
                <a:solidFill>
                  <a:srgbClr val="8892B0"/>
                </a:solidFill>
                <a:latin typeface="Arial"/>
              </a:rPr>
              <a:t> Segregates preprocessing pipelines, model caches, evaluations, and tests into dedicated directories.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Locked Environments:</a:t>
            </a:r>
            <a:r>
              <a:rPr sz="1400" b="0">
                <a:solidFill>
                  <a:srgbClr val="8892B0"/>
                </a:solidFill>
                <a:latin typeface="Arial"/>
              </a:rPr>
              <a:t> All dependencies are locked down in `requirements.txt` to eliminate package drifts.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Deterministic Pipelines:</a:t>
            </a:r>
            <a:r>
              <a:rPr sz="1400" b="0">
                <a:solidFill>
                  <a:srgbClr val="8892B0"/>
                </a:solidFill>
                <a:latin typeface="Arial"/>
              </a:rPr>
              <a:t> Launch training or serving with simple, unified command executions.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Unit Testing:</a:t>
            </a:r>
            <a:r>
              <a:rPr sz="1400" b="0">
                <a:solidFill>
                  <a:srgbClr val="8892B0"/>
                </a:solidFill>
                <a:latin typeface="Arial"/>
              </a:rPr>
              <a:t> Leverages Pytest suites (`tests/test_features.py`) to validate model and preprocessing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020C1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E6F1FF"/>
                </a:solidFill>
                <a:latin typeface="Consolas"/>
              </a:defRPr>
            </a:pPr>
            <a:r>
              <a:t>smarthire-resume-matcher/</a:t>
            </a:r>
            <a:br/>
            <a:r>
              <a:t>├── requirements.txt</a:t>
            </a:r>
            <a:br/>
            <a:r>
              <a:t>├── app/</a:t>
            </a:r>
            <a:br/>
            <a:r>
              <a:t>│   └── streamlit_app.py</a:t>
            </a:r>
            <a:br/>
            <a:r>
              <a:t>├── src/</a:t>
            </a:r>
            <a:br/>
            <a:r>
              <a:t>│   ├── data/preprocess.py</a:t>
            </a:r>
            <a:br/>
            <a:r>
              <a:t>│   ├── models/classifier.py</a:t>
            </a:r>
            <a:br/>
            <a:r>
              <a:t>│   └── parsing/resume_parser.py</a:t>
            </a:r>
            <a:br/>
            <a:r>
              <a:t>├── notebooks/</a:t>
            </a:r>
            <a:br/>
            <a:r>
              <a:t>│   └── 01_eda.ipynb</a:t>
            </a:r>
            <a:br/>
            <a:r>
              <a:t>├── reports/</a:t>
            </a:r>
            <a:br/>
            <a:r>
              <a:t>│   └── presentation.pptx</a:t>
            </a:r>
            <a:br/>
            <a:r>
              <a:t>└── tests/</a:t>
            </a:r>
            <a:br/>
            <a:r>
              <a:t>    └── test_features.py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10 /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SmartHire Next Iterations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Dense Semantic Embeddings:</a:t>
            </a:r>
            <a:r>
              <a:rPr sz="1400" b="0">
                <a:solidFill>
                  <a:srgbClr val="8892B0"/>
                </a:solidFill>
                <a:latin typeface="Arial"/>
              </a:rPr>
              <a:t> Transition from sparse TF-IDF vectors to dense Sentence-BERT (SBERT) embeddings to capture contextual matches (e.g. distinguishing 'no Python experience' from 'strong Python background').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NER Skill Extraction:</a:t>
            </a:r>
            <a:r>
              <a:rPr sz="1400" b="0">
                <a:solidFill>
                  <a:srgbClr val="8892B0"/>
                </a:solidFill>
                <a:latin typeface="Arial"/>
              </a:rPr>
              <a:t> Replace the static keyword list with a custom Named Entity Recognition (NER) model to detect emerging and rare skill entities.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Systematic Benchmarking:</a:t>
            </a:r>
            <a:r>
              <a:rPr sz="1400" b="0">
                <a:solidFill>
                  <a:srgbClr val="8892B0"/>
                </a:solidFill>
                <a:latin typeface="Arial"/>
              </a:rPr>
              <a:t> Benchmark the matching pipeline against simple baseline keyword counters and commercial candidate APIs.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Recruiter Loop Integration:</a:t>
            </a:r>
            <a:r>
              <a:rPr sz="1400" b="0">
                <a:solidFill>
                  <a:srgbClr val="8892B0"/>
                </a:solidFill>
                <a:latin typeface="Arial"/>
              </a:rPr>
              <a:t> Replace the synthetic label framework with real-world shortlisting/rejection feedback logs from campus hiring partners.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F1FF"/>
                </a:solidFill>
                <a:latin typeface="Arial"/>
              </a:defRPr>
            </a:pPr>
            <a:r>
              <a:t>ML Trade-off: Interpretability vs. Semantic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2560320"/>
            <a:ext cx="36576" cy="2468880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5029200"/>
            <a:ext cx="3200400" cy="36576"/>
          </a:xfrm>
          <a:prstGeom prst="rect">
            <a:avLst/>
          </a:prstGeom>
          <a:solidFill>
            <a:srgbClr val="889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3774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92B0"/>
                </a:solidFill>
              </a:defRPr>
            </a:pPr>
            <a:r>
              <a:t>Interpretability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79" y="51206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92B0"/>
                </a:solidFill>
              </a:defRPr>
            </a:pPr>
            <a:r>
              <a:t>Semantic Depth</a:t>
            </a:r>
          </a:p>
        </p:txBody>
      </p:sp>
      <p:sp>
        <p:nvSpPr>
          <p:cNvPr id="12" name="Oval 11"/>
          <p:cNvSpPr/>
          <p:nvPr/>
        </p:nvSpPr>
        <p:spPr>
          <a:xfrm>
            <a:off x="7955279" y="2926080"/>
            <a:ext cx="137160" cy="137160"/>
          </a:xfrm>
          <a:prstGeom prst="ellipse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64FFDA"/>
                </a:solidFill>
              </a:defRPr>
            </a:pPr>
            <a:r>
              <a:t>SmartHire (Classical ML)</a:t>
            </a:r>
          </a:p>
        </p:txBody>
      </p:sp>
      <p:sp>
        <p:nvSpPr>
          <p:cNvPr id="14" name="Oval 13"/>
          <p:cNvSpPr/>
          <p:nvPr/>
        </p:nvSpPr>
        <p:spPr>
          <a:xfrm>
            <a:off x="10058399" y="438912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79" y="4572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B82F6"/>
                </a:solidFill>
              </a:defRPr>
            </a:pPr>
            <a:r>
              <a:t>LLMs / SBERT (Black-box)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4FFDA"/>
                </a:solidFill>
                <a:latin typeface="Consolas"/>
              </a:defRPr>
            </a:pPr>
            <a:r>
              <a:t>11 /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31520"/>
            <a:ext cx="54864" cy="54864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3152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E6F1FF"/>
                </a:solidFill>
                <a:latin typeface="Arial"/>
              </a:defRPr>
            </a:pPr>
            <a:r>
              <a:t>SmartHire Defended: What I Built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End-to-End Modular Pipeline:</a:t>
            </a:r>
            <a:r>
              <a:rPr sz="1400" b="0">
                <a:solidFill>
                  <a:srgbClr val="8892B0"/>
                </a:solidFill>
                <a:latin typeface="Arial"/>
              </a:rPr>
              <a:t> Shipped a production-ready Python structure (PDF parsing → preprocessing → TF-IDF mapping → similarity recommender → XGBoost prediction).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Decoupled Architecture:</a:t>
            </a:r>
            <a:r>
              <a:rPr sz="1400" b="0">
                <a:solidFill>
                  <a:srgbClr val="8892B0"/>
                </a:solidFill>
                <a:latin typeface="Arial"/>
              </a:rPr>
              <a:t> De-coupled the vectorizer, classifier, and job database to allow seamless future model swaps.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Low Latency &amp; Zero Cost:</a:t>
            </a:r>
            <a:r>
              <a:rPr sz="1400" b="0">
                <a:solidFill>
                  <a:srgbClr val="8892B0"/>
                </a:solidFill>
                <a:latin typeface="Arial"/>
              </a:rPr>
              <a:t> Entirely self-contained pipeline matching candidates locally in </a:t>
            </a:r>
            <a:r>
              <a:rPr sz="1400" b="1">
                <a:solidFill>
                  <a:srgbClr val="E6F1FF"/>
                </a:solidFill>
                <a:latin typeface="Arial"/>
              </a:rPr>
              <a:t>&amp;lt;100ms</a:t>
            </a:r>
            <a:r>
              <a:rPr sz="1400" b="0">
                <a:solidFill>
                  <a:srgbClr val="8892B0"/>
                </a:solidFill>
                <a:latin typeface="Arial"/>
              </a:rPr>
              <a:t> at </a:t>
            </a:r>
            <a:r>
              <a:rPr sz="1400" b="1">
                <a:solidFill>
                  <a:srgbClr val="E6F1FF"/>
                </a:solidFill>
                <a:latin typeface="Arial"/>
              </a:rPr>
              <a:t>$0</a:t>
            </a:r>
            <a:r>
              <a:rPr sz="1400" b="0">
                <a:solidFill>
                  <a:srgbClr val="8892B0"/>
                </a:solidFill>
                <a:latin typeface="Arial"/>
              </a:rPr>
              <a:t> API overhead cost.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400" b="1">
                <a:solidFill>
                  <a:srgbClr val="64FFDA"/>
                </a:solidFill>
                <a:latin typeface="Arial"/>
              </a:rPr>
              <a:t>→  </a:t>
            </a:r>
            <a:r>
              <a:rPr sz="1400" b="1">
                <a:solidFill>
                  <a:srgbClr val="E6F1FF"/>
                </a:solidFill>
                <a:latin typeface="Arial"/>
              </a:rPr>
              <a:t>Key Engineering Insight:</a:t>
            </a:r>
            <a:r>
              <a:rPr sz="1400" b="0">
                <a:solidFill>
                  <a:srgbClr val="8892B0"/>
                </a:solidFill>
                <a:latin typeface="Arial"/>
              </a:rPr>
              <a:t> Classical ML delivers unmatched speed and transparency; transitioning to dense SBERT embeddings is the logical next step to solve context-level matching.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389120" cy="4114800"/>
          </a:xfrm>
          <a:prstGeom prst="rect">
            <a:avLst/>
          </a:prstGeom>
          <a:solidFill>
            <a:srgbClr val="112240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828800"/>
            <a:ext cx="4023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4FFDA"/>
                </a:solidFill>
                <a:latin typeface="Arial"/>
              </a:defRPr>
            </a:pPr>
            <a:r>
              <a:t>Thank You!</a:t>
            </a:r>
          </a:p>
          <a:p>
            <a:br/>
            <a:pPr algn="ctr">
              <a:defRPr sz="1400">
                <a:solidFill>
                  <a:srgbClr val="E6F1FF"/>
                </a:solidFill>
                <a:latin typeface="Arial"/>
              </a:defRPr>
            </a:pPr>
            <a:r>
              <a:t>SmartHire Career Engine</a:t>
            </a:r>
            <a:br/>
            <a:r>
              <a:t>Capstone Presentation Defended</a:t>
            </a:r>
          </a:p>
          <a:p>
            <a:br/>
            <a:br/>
            <a:pPr algn="ctr">
              <a:defRPr sz="1100">
                <a:solidFill>
                  <a:srgbClr val="3B82F6"/>
                </a:solidFill>
                <a:latin typeface="Consolas"/>
              </a:defRPr>
            </a:pPr>
            <a:r>
              <a:t>GitHub Repo:</a:t>
            </a:r>
            <a:br/>
            <a:r>
              <a:t>shaikhadibbb/smarthire-resume-matcher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4572000"/>
            <a:ext cx="329184" cy="329184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63456" y="4572000"/>
            <a:ext cx="329184" cy="329184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5340096"/>
            <a:ext cx="329184" cy="329184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